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9"/>
  </p:notesMasterIdLst>
  <p:handoutMasterIdLst>
    <p:handoutMasterId r:id="rId20"/>
  </p:handoutMasterIdLst>
  <p:sldIdLst>
    <p:sldId id="256" r:id="rId5"/>
    <p:sldId id="269" r:id="rId6"/>
    <p:sldId id="257" r:id="rId7"/>
    <p:sldId id="270" r:id="rId8"/>
    <p:sldId id="271" r:id="rId9"/>
    <p:sldId id="272" r:id="rId10"/>
    <p:sldId id="273" r:id="rId11"/>
    <p:sldId id="278" r:id="rId12"/>
    <p:sldId id="279" r:id="rId13"/>
    <p:sldId id="274" r:id="rId14"/>
    <p:sldId id="275" r:id="rId15"/>
    <p:sldId id="276" r:id="rId16"/>
    <p:sldId id="277" r:id="rId17"/>
    <p:sldId id="268" r:id="rId18"/>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5/15/2026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5/15/2026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2800" dirty="0" err="1"/>
              <a:t>QuickShow</a:t>
            </a:r>
            <a:r>
              <a:rPr lang="en-US" sz="2800" dirty="0"/>
              <a:t> – Smart Movie Show Booking and Seat Reservation System</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Sanchit  2211981341</a:t>
            </a:r>
          </a:p>
          <a:p>
            <a:pPr algn="ctr">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Rohit  2211981316</a:t>
            </a:r>
          </a:p>
          <a:p>
            <a:pPr algn="ctr">
              <a:lnSpc>
                <a:spcPct val="100000"/>
              </a:lnSpc>
              <a:spcBef>
                <a:spcPts val="400"/>
              </a:spcBef>
            </a:pP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Shivanshu 2211981375</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Shivani  2211981370</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dirty="0"/>
              <a:t>Dr. </a:t>
            </a:r>
            <a:r>
              <a:rPr lang="en-US" dirty="0"/>
              <a:t>Swati </a:t>
            </a:r>
            <a:r>
              <a:rPr lang="en-US" dirty="0" err="1"/>
              <a:t>goel</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C0D48-35A5-D9EA-3097-E822C9348227}"/>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    Acknowledgement</a:t>
            </a:r>
          </a:p>
        </p:txBody>
      </p:sp>
      <p:sp>
        <p:nvSpPr>
          <p:cNvPr id="3" name="Subtitle 2">
            <a:extLst>
              <a:ext uri="{FF2B5EF4-FFF2-40B4-BE49-F238E27FC236}">
                <a16:creationId xmlns:a16="http://schemas.microsoft.com/office/drawing/2014/main" id="{921B07C6-731D-6A2D-597D-A569A49F5DBE}"/>
              </a:ext>
            </a:extLst>
          </p:cNvPr>
          <p:cNvSpPr>
            <a:spLocks noGrp="1"/>
          </p:cNvSpPr>
          <p:nvPr>
            <p:ph type="subTitle"/>
          </p:nvPr>
        </p:nvSpPr>
        <p:spPr>
          <a:xfrm>
            <a:off x="437535" y="1238864"/>
            <a:ext cx="8268929" cy="4159045"/>
          </a:xfrm>
        </p:spPr>
        <p:txBody>
          <a:bodyPr/>
          <a:lstStyle/>
          <a:p>
            <a:pPr algn="just"/>
            <a:r>
              <a:rPr lang="en-US" sz="2000" dirty="0"/>
              <a:t>I would like to express my sincere gratitude to </a:t>
            </a:r>
            <a:r>
              <a:rPr lang="en-US" sz="2000" b="1" dirty="0"/>
              <a:t>Dr. Swati Goel</a:t>
            </a:r>
            <a:r>
              <a:rPr lang="en-US" sz="2000" dirty="0"/>
              <a:t> for her valuable guidance, support, and encouragement throughout the development of the project </a:t>
            </a:r>
            <a:r>
              <a:rPr lang="en-US" sz="2000" b="1" dirty="0" err="1"/>
              <a:t>QuickShow</a:t>
            </a:r>
            <a:r>
              <a:rPr lang="en-US" sz="2000" b="1" dirty="0"/>
              <a:t> – Smart Movie Show Booking and Seat Reservation System</a:t>
            </a:r>
            <a:r>
              <a:rPr lang="en-US" sz="2000" dirty="0"/>
              <a:t>.</a:t>
            </a:r>
          </a:p>
          <a:p>
            <a:pPr algn="just"/>
            <a:endParaRPr lang="en-US" sz="2000" dirty="0"/>
          </a:p>
          <a:p>
            <a:pPr algn="just"/>
            <a:r>
              <a:rPr lang="en-US" sz="2000" dirty="0"/>
              <a:t>I also thank the faculty members of the Department of Computer Science and Engineering, Chitkara University, for providing the necessary resources and technical support.</a:t>
            </a:r>
          </a:p>
          <a:p>
            <a:pPr algn="just"/>
            <a:r>
              <a:rPr lang="en-US" sz="2000" dirty="0"/>
              <a:t>Special thanks to my teammates, friends, and family for their continuous motivation, collaboration, and support during the project development journey.</a:t>
            </a:r>
          </a:p>
          <a:p>
            <a:pPr algn="just"/>
            <a:endParaRPr lang="en-US" sz="2000" dirty="0"/>
          </a:p>
          <a:p>
            <a:pPr algn="just"/>
            <a:r>
              <a:rPr lang="en-US" sz="2000" dirty="0"/>
              <a:t>Finally, I would like to acknowledge the contribution of online resources, open-source libraries, and developer communities that helped in the successful completion of this project. </a:t>
            </a:r>
          </a:p>
        </p:txBody>
      </p:sp>
    </p:spTree>
    <p:extLst>
      <p:ext uri="{BB962C8B-B14F-4D97-AF65-F5344CB8AC3E}">
        <p14:creationId xmlns:p14="http://schemas.microsoft.com/office/powerpoint/2010/main" val="1443686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2766060" cy="837720"/>
          </a:xfrm>
          <a:prstGeom prst="rect">
            <a:avLst/>
          </a:prstGeom>
          <a:noFill/>
          <a:ln w="9360">
            <a:noFill/>
          </a:ln>
        </p:spPr>
        <p:txBody>
          <a:bodyPr anchor="ctr">
            <a:noAutofit/>
          </a:bodyPr>
          <a:lstStyle/>
          <a:p>
            <a:pPr algn="ctr">
              <a:lnSpc>
                <a:spcPct val="100000"/>
              </a:lnSpc>
            </a:pPr>
            <a:r>
              <a:rPr lang="en" sz="3200" b="1" dirty="0">
                <a:latin typeface="Times New Roman" panose="02020603050405020304" pitchFamily="18" charset="0"/>
                <a:cs typeface="Times New Roman" panose="02020603050405020304" pitchFamily="18" charset="0"/>
              </a:rPr>
              <a:t>Introduction</a:t>
            </a:r>
            <a:endParaRPr lang="en-US" sz="3000" b="1"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endParaRPr lang="en-US" sz="1200" b="1" spc="-1" dirty="0">
              <a:solidFill>
                <a:srgbClr val="000000"/>
              </a:solidFill>
              <a:latin typeface="Calibri"/>
              <a:ea typeface="MS PGothic"/>
            </a:endParaRPr>
          </a:p>
          <a:p>
            <a:pPr algn="r">
              <a:lnSpc>
                <a:spcPct val="100000"/>
              </a:lnSpc>
            </a:pPr>
            <a:endParaRPr lang="en-GB" sz="1200" b="0" strike="noStrike" spc="-1" dirty="0">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gn="just"/>
            <a:r>
              <a:rPr lang="en-US" sz="2000" b="1" dirty="0" err="1"/>
              <a:t>QuickShow</a:t>
            </a:r>
            <a:r>
              <a:rPr lang="en-US" sz="2000" dirty="0"/>
              <a:t> is a smart online movie and event ticket booking platform developed to simplify the entertainment booking experience. The system allows users to browse movies, comedy shows, and local events, select theatres and show timings, choose seats in real time, and securely book tickets online.</a:t>
            </a:r>
          </a:p>
          <a:p>
            <a:pPr algn="just"/>
            <a:endParaRPr lang="en-US" sz="2000" dirty="0"/>
          </a:p>
          <a:p>
            <a:pPr algn="just"/>
            <a:r>
              <a:rPr lang="en-US" sz="2000" dirty="0"/>
              <a:t>The platform provides features such as:</a:t>
            </a:r>
          </a:p>
          <a:p>
            <a:pPr marL="342900" indent="-342900" algn="just">
              <a:buFont typeface="Arial" panose="020B0604020202020204" pitchFamily="34" charset="0"/>
              <a:buChar char="•"/>
            </a:pPr>
            <a:r>
              <a:rPr lang="en-US" sz="2000" dirty="0"/>
              <a:t>User Authentication &amp; Secure Login </a:t>
            </a:r>
          </a:p>
          <a:p>
            <a:pPr marL="342900" indent="-342900" algn="just">
              <a:buFont typeface="Arial" panose="020B0604020202020204" pitchFamily="34" charset="0"/>
              <a:buChar char="•"/>
            </a:pPr>
            <a:r>
              <a:rPr lang="en-US" sz="2000" dirty="0"/>
              <a:t>Movie and Event Listings </a:t>
            </a:r>
          </a:p>
          <a:p>
            <a:pPr marL="342900" indent="-342900" algn="just">
              <a:buFont typeface="Arial" panose="020B0604020202020204" pitchFamily="34" charset="0"/>
              <a:buChar char="•"/>
            </a:pPr>
            <a:r>
              <a:rPr lang="en-US" sz="2000" dirty="0"/>
              <a:t>Real-Time Seat Selection </a:t>
            </a:r>
          </a:p>
          <a:p>
            <a:pPr marL="342900" indent="-342900" algn="just">
              <a:buFont typeface="Arial" panose="020B0604020202020204" pitchFamily="34" charset="0"/>
              <a:buChar char="•"/>
            </a:pPr>
            <a:r>
              <a:rPr lang="en-US" sz="2000" dirty="0"/>
              <a:t>Secure Online Payment Integration </a:t>
            </a:r>
          </a:p>
          <a:p>
            <a:pPr marL="342900" indent="-342900" algn="just">
              <a:buFont typeface="Arial" panose="020B0604020202020204" pitchFamily="34" charset="0"/>
              <a:buChar char="•"/>
            </a:pPr>
            <a:r>
              <a:rPr lang="en-US" sz="2000" dirty="0"/>
              <a:t>Digital Ticket Generation </a:t>
            </a:r>
          </a:p>
          <a:p>
            <a:pPr marL="342900" indent="-342900" algn="just">
              <a:buFont typeface="Arial" panose="020B0604020202020204" pitchFamily="34" charset="0"/>
              <a:buChar char="•"/>
            </a:pPr>
            <a:r>
              <a:rPr lang="en-US" sz="2000" dirty="0"/>
              <a:t>Admin Dashboard for Management </a:t>
            </a:r>
          </a:p>
          <a:p>
            <a:pPr algn="just"/>
            <a:endParaRPr lang="en-US" sz="2000" dirty="0"/>
          </a:p>
          <a:p>
            <a:pPr algn="just"/>
            <a:r>
              <a:rPr lang="en-US" sz="2000" dirty="0" err="1"/>
              <a:t>QuickShow</a:t>
            </a:r>
            <a:r>
              <a:rPr lang="en-US" sz="2000" dirty="0"/>
              <a:t> is designed using modern web technologies like </a:t>
            </a:r>
            <a:r>
              <a:rPr lang="en-US" sz="2000" b="1" dirty="0"/>
              <a:t>React.js, Node.js, Express.js, and MongoDB</a:t>
            </a:r>
            <a:r>
              <a:rPr lang="en-US" sz="2000" dirty="0"/>
              <a:t> to provide a fast, responsive, and user-friendly experience similar to platforms like </a:t>
            </a:r>
            <a:r>
              <a:rPr lang="en-US" sz="2000" dirty="0" err="1"/>
              <a:t>BookMyShow</a:t>
            </a:r>
            <a:r>
              <a:rPr lang="en-US" sz="20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6D1A8-FFE3-8AB2-7EF7-1521637ACAC4}"/>
              </a:ext>
            </a:extLst>
          </p:cNvPr>
          <p:cNvSpPr>
            <a:spLocks noGrp="1"/>
          </p:cNvSpPr>
          <p:nvPr>
            <p:ph type="title"/>
          </p:nvPr>
        </p:nvSpPr>
        <p:spPr>
          <a:xfrm>
            <a:off x="262890" y="0"/>
            <a:ext cx="5486040" cy="914040"/>
          </a:xfrm>
        </p:spPr>
        <p:txBody>
          <a:bodyPr/>
          <a:lstStyle/>
          <a:p>
            <a:r>
              <a:rPr lang="en-IN" b="1" dirty="0">
                <a:latin typeface="Times New Roman" panose="02020603050405020304" pitchFamily="18" charset="0"/>
                <a:cs typeface="Times New Roman" panose="02020603050405020304" pitchFamily="18" charset="0"/>
              </a:rPr>
              <a:t>Problem Statement: </a:t>
            </a:r>
          </a:p>
        </p:txBody>
      </p:sp>
      <p:sp>
        <p:nvSpPr>
          <p:cNvPr id="3" name="Subtitle 2">
            <a:extLst>
              <a:ext uri="{FF2B5EF4-FFF2-40B4-BE49-F238E27FC236}">
                <a16:creationId xmlns:a16="http://schemas.microsoft.com/office/drawing/2014/main" id="{5CAF7C55-E2E3-50A2-3942-0C09C675F22F}"/>
              </a:ext>
            </a:extLst>
          </p:cNvPr>
          <p:cNvSpPr>
            <a:spLocks noGrp="1"/>
          </p:cNvSpPr>
          <p:nvPr>
            <p:ph type="subTitle"/>
          </p:nvPr>
        </p:nvSpPr>
        <p:spPr>
          <a:xfrm>
            <a:off x="189738" y="1389887"/>
            <a:ext cx="8265816" cy="3239933"/>
          </a:xfrm>
        </p:spPr>
        <p:txBody>
          <a:bodyPr/>
          <a:lstStyle/>
          <a:p>
            <a:pPr algn="just"/>
            <a:r>
              <a:rPr lang="en-US" sz="2000" dirty="0"/>
              <a:t>Traditional ticket booking systems often cause long queues, booking errors, and inconvenience for users. Many platforms do not provide real-time seat availability, secure online payments, or easy access to local events and comedy shows.</a:t>
            </a:r>
          </a:p>
          <a:p>
            <a:pPr algn="just"/>
            <a:endParaRPr lang="en-US" sz="2000" dirty="0"/>
          </a:p>
          <a:p>
            <a:pPr algn="just"/>
            <a:r>
              <a:rPr lang="en-US" sz="2000" b="1" dirty="0" err="1"/>
              <a:t>QuickShow</a:t>
            </a:r>
            <a:r>
              <a:rPr lang="en-US" sz="2000" dirty="0"/>
              <a:t> solves these problems by providing:</a:t>
            </a:r>
          </a:p>
          <a:p>
            <a:pPr marL="342900" indent="-342900" algn="just">
              <a:buFont typeface="Arial" panose="020B0604020202020204" pitchFamily="34" charset="0"/>
              <a:buChar char="•"/>
            </a:pPr>
            <a:r>
              <a:rPr lang="en-US" sz="2000" dirty="0"/>
              <a:t>Real-time seat selection </a:t>
            </a:r>
          </a:p>
          <a:p>
            <a:pPr marL="342900" indent="-342900" algn="just">
              <a:buFont typeface="Arial" panose="020B0604020202020204" pitchFamily="34" charset="0"/>
              <a:buChar char="•"/>
            </a:pPr>
            <a:r>
              <a:rPr lang="en-IN" sz="2000" dirty="0"/>
              <a:t>AI chatbot assistance and smart recommendations </a:t>
            </a:r>
            <a:endParaRPr lang="en-US" sz="2000" dirty="0"/>
          </a:p>
          <a:p>
            <a:pPr marL="342900" indent="-342900" algn="just">
              <a:buFont typeface="Arial" panose="020B0604020202020204" pitchFamily="34" charset="0"/>
              <a:buChar char="•"/>
            </a:pPr>
            <a:r>
              <a:rPr lang="en-US" sz="2000" dirty="0"/>
              <a:t>Secure online ticket booking </a:t>
            </a:r>
          </a:p>
          <a:p>
            <a:pPr marL="342900" indent="-342900" algn="just">
              <a:buFont typeface="Arial" panose="020B0604020202020204" pitchFamily="34" charset="0"/>
              <a:buChar char="•"/>
            </a:pPr>
            <a:r>
              <a:rPr lang="en-US" sz="2000" dirty="0"/>
              <a:t>Digital ticket generation </a:t>
            </a:r>
          </a:p>
          <a:p>
            <a:pPr marL="342900" indent="-342900" algn="just">
              <a:buFont typeface="Arial" panose="020B0604020202020204" pitchFamily="34" charset="0"/>
              <a:buChar char="•"/>
            </a:pPr>
            <a:r>
              <a:rPr lang="en-US" sz="2000" dirty="0"/>
              <a:t>Easy movie &amp; event browsing </a:t>
            </a:r>
          </a:p>
          <a:p>
            <a:pPr marL="342900" indent="-342900" algn="just">
              <a:buFont typeface="Arial" panose="020B0604020202020204" pitchFamily="34" charset="0"/>
              <a:buChar char="•"/>
            </a:pPr>
            <a:r>
              <a:rPr lang="en-US" sz="2000" dirty="0"/>
              <a:t>User-friendly booking experience </a:t>
            </a:r>
          </a:p>
          <a:p>
            <a:pPr algn="just"/>
            <a:endParaRPr lang="en-US" sz="2000" dirty="0"/>
          </a:p>
          <a:p>
            <a:pPr algn="just"/>
            <a:r>
              <a:rPr lang="en-US" sz="2000" dirty="0"/>
              <a:t>The system aims to make entertainment booking faster, smarter, and more convenient for users.</a:t>
            </a:r>
          </a:p>
        </p:txBody>
      </p:sp>
    </p:spTree>
    <p:extLst>
      <p:ext uri="{BB962C8B-B14F-4D97-AF65-F5344CB8AC3E}">
        <p14:creationId xmlns:p14="http://schemas.microsoft.com/office/powerpoint/2010/main" val="1029056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91627-C4BE-FC4A-5A3E-F5568E2DB702}"/>
              </a:ext>
            </a:extLst>
          </p:cNvPr>
          <p:cNvSpPr>
            <a:spLocks noGrp="1"/>
          </p:cNvSpPr>
          <p:nvPr>
            <p:ph type="title"/>
          </p:nvPr>
        </p:nvSpPr>
        <p:spPr>
          <a:xfrm>
            <a:off x="457200" y="0"/>
            <a:ext cx="3246120" cy="914040"/>
          </a:xfrm>
        </p:spPr>
        <p:txBody>
          <a:bodyPr/>
          <a:lstStyle/>
          <a:p>
            <a:r>
              <a:rPr lang="en-IN" b="1" dirty="0">
                <a:latin typeface="Times New Roman" panose="02020603050405020304" pitchFamily="18" charset="0"/>
                <a:cs typeface="Times New Roman" panose="02020603050405020304" pitchFamily="18" charset="0"/>
              </a:rPr>
              <a:t>Objectives</a:t>
            </a:r>
            <a:r>
              <a:rPr lang="en-IN" dirty="0"/>
              <a:t>: </a:t>
            </a:r>
          </a:p>
        </p:txBody>
      </p:sp>
      <p:sp>
        <p:nvSpPr>
          <p:cNvPr id="3" name="Subtitle 2">
            <a:extLst>
              <a:ext uri="{FF2B5EF4-FFF2-40B4-BE49-F238E27FC236}">
                <a16:creationId xmlns:a16="http://schemas.microsoft.com/office/drawing/2014/main" id="{476909DB-DC81-8D6C-A0AB-70AA81904E6A}"/>
              </a:ext>
            </a:extLst>
          </p:cNvPr>
          <p:cNvSpPr>
            <a:spLocks noGrp="1"/>
          </p:cNvSpPr>
          <p:nvPr>
            <p:ph type="subTitle"/>
          </p:nvPr>
        </p:nvSpPr>
        <p:spPr>
          <a:xfrm>
            <a:off x="182880" y="914040"/>
            <a:ext cx="8229240" cy="3977280"/>
          </a:xfrm>
        </p:spPr>
        <p:txBody>
          <a:bodyPr/>
          <a:lstStyle/>
          <a:p>
            <a:pPr algn="just"/>
            <a:r>
              <a:rPr lang="en-US" sz="2000" dirty="0"/>
              <a:t>The main objective of </a:t>
            </a:r>
            <a:r>
              <a:rPr lang="en-US" sz="2000" b="1" dirty="0" err="1"/>
              <a:t>QuickShow</a:t>
            </a:r>
            <a:r>
              <a:rPr lang="en-US" sz="2000" dirty="0"/>
              <a:t> is to develop a smart and user-friendly online movie and event booking platform that simplifies the ticket reservation process.</a:t>
            </a:r>
          </a:p>
          <a:p>
            <a:pPr algn="just"/>
            <a:endParaRPr lang="en-US" sz="2000" dirty="0"/>
          </a:p>
          <a:p>
            <a:pPr algn="just"/>
            <a:r>
              <a:rPr lang="en-US" sz="2000" b="1" dirty="0"/>
              <a:t>Key Objectives:</a:t>
            </a:r>
          </a:p>
          <a:p>
            <a:pPr algn="just"/>
            <a:endParaRPr lang="en-US" sz="2000" b="1" dirty="0"/>
          </a:p>
          <a:p>
            <a:pPr marL="342900" indent="-342900" algn="just">
              <a:buFont typeface="Arial" panose="020B0604020202020204" pitchFamily="34" charset="0"/>
              <a:buChar char="•"/>
            </a:pPr>
            <a:r>
              <a:rPr lang="en-US" sz="2000" dirty="0"/>
              <a:t>Provide secure user authentication and account management </a:t>
            </a:r>
          </a:p>
          <a:p>
            <a:pPr marL="342900" indent="-342900" algn="just">
              <a:buFont typeface="Arial" panose="020B0604020202020204" pitchFamily="34" charset="0"/>
              <a:buChar char="•"/>
            </a:pPr>
            <a:r>
              <a:rPr lang="en-US" sz="2000" dirty="0"/>
              <a:t>Enable real-time seat selection and booking </a:t>
            </a:r>
          </a:p>
          <a:p>
            <a:pPr marL="342900" indent="-342900" algn="just">
              <a:buFont typeface="Arial" panose="020B0604020202020204" pitchFamily="34" charset="0"/>
              <a:buChar char="•"/>
            </a:pPr>
            <a:r>
              <a:rPr lang="en-US" sz="2000" dirty="0"/>
              <a:t>Generate instant digital tickets after booking </a:t>
            </a:r>
          </a:p>
          <a:p>
            <a:pPr marL="342900" indent="-342900" algn="just">
              <a:buFont typeface="Arial" panose="020B0604020202020204" pitchFamily="34" charset="0"/>
              <a:buChar char="•"/>
            </a:pPr>
            <a:r>
              <a:rPr lang="en-US" sz="2000" dirty="0"/>
              <a:t>Allow admins to manage movies, events, and bookings efficiently </a:t>
            </a:r>
          </a:p>
          <a:p>
            <a:pPr marL="342900" indent="-342900" algn="just">
              <a:buFont typeface="Arial" panose="020B0604020202020204" pitchFamily="34" charset="0"/>
              <a:buChar char="•"/>
            </a:pPr>
            <a:r>
              <a:rPr lang="en-US" sz="2000" dirty="0"/>
              <a:t>Integrate an AI chatbot for smart user assistance and recommendations </a:t>
            </a:r>
          </a:p>
          <a:p>
            <a:pPr marL="342900" indent="-342900" algn="just">
              <a:buFont typeface="Arial" panose="020B0604020202020204" pitchFamily="34" charset="0"/>
              <a:buChar char="•"/>
            </a:pPr>
            <a:r>
              <a:rPr lang="en-US" sz="2000" dirty="0"/>
              <a:t>Support both movies and local entertainment events </a:t>
            </a:r>
          </a:p>
          <a:p>
            <a:pPr marL="342900" indent="-342900" algn="just">
              <a:buFont typeface="Arial" panose="020B0604020202020204" pitchFamily="34" charset="0"/>
              <a:buChar char="•"/>
            </a:pPr>
            <a:r>
              <a:rPr lang="en-US" sz="2000" dirty="0"/>
              <a:t>Build a responsive and scalable web application</a:t>
            </a:r>
          </a:p>
        </p:txBody>
      </p:sp>
    </p:spTree>
    <p:extLst>
      <p:ext uri="{BB962C8B-B14F-4D97-AF65-F5344CB8AC3E}">
        <p14:creationId xmlns:p14="http://schemas.microsoft.com/office/powerpoint/2010/main" val="153550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7A7FB-756B-8D16-BFC7-3E862363FB09}"/>
              </a:ext>
            </a:extLst>
          </p:cNvPr>
          <p:cNvSpPr>
            <a:spLocks noGrp="1"/>
          </p:cNvSpPr>
          <p:nvPr>
            <p:ph type="title"/>
          </p:nvPr>
        </p:nvSpPr>
        <p:spPr>
          <a:xfrm>
            <a:off x="308610" y="91440"/>
            <a:ext cx="5486040" cy="914040"/>
          </a:xfrm>
        </p:spPr>
        <p:txBody>
          <a:bodyPr/>
          <a:lstStyle/>
          <a:p>
            <a:r>
              <a:rPr lang="en-IN" b="1" dirty="0">
                <a:latin typeface="Times New Roman" panose="02020603050405020304" pitchFamily="18" charset="0"/>
                <a:cs typeface="Times New Roman" panose="02020603050405020304" pitchFamily="18" charset="0"/>
              </a:rPr>
              <a:t>Literature Review </a:t>
            </a:r>
          </a:p>
        </p:txBody>
      </p:sp>
      <p:sp>
        <p:nvSpPr>
          <p:cNvPr id="3" name="Subtitle 2">
            <a:extLst>
              <a:ext uri="{FF2B5EF4-FFF2-40B4-BE49-F238E27FC236}">
                <a16:creationId xmlns:a16="http://schemas.microsoft.com/office/drawing/2014/main" id="{504E791B-C9CD-C883-DA4C-F776AABDB3F2}"/>
              </a:ext>
            </a:extLst>
          </p:cNvPr>
          <p:cNvSpPr>
            <a:spLocks noGrp="1"/>
          </p:cNvSpPr>
          <p:nvPr>
            <p:ph type="subTitle"/>
          </p:nvPr>
        </p:nvSpPr>
        <p:spPr>
          <a:xfrm>
            <a:off x="235458" y="1005480"/>
            <a:ext cx="8229240" cy="4541670"/>
          </a:xfrm>
        </p:spPr>
        <p:txBody>
          <a:bodyPr/>
          <a:lstStyle/>
          <a:p>
            <a:pPr algn="just"/>
            <a:r>
              <a:rPr lang="en-US" sz="2000" dirty="0"/>
              <a:t>The development of </a:t>
            </a:r>
            <a:r>
              <a:rPr lang="en-US" sz="2000" b="1" dirty="0" err="1"/>
              <a:t>QuickShow</a:t>
            </a:r>
            <a:r>
              <a:rPr lang="en-US" sz="2000" dirty="0"/>
              <a:t> was inspired by existing online ticket booking platforms such as </a:t>
            </a:r>
            <a:r>
              <a:rPr lang="en-US" sz="2000" dirty="0" err="1"/>
              <a:t>BookMyShow</a:t>
            </a:r>
            <a:r>
              <a:rPr lang="en-US" sz="2000" dirty="0"/>
              <a:t> and other modern entertainment systems. Research was conducted on web development technologies, secure payment systems, user authentication, and responsive UI design.</a:t>
            </a:r>
          </a:p>
          <a:p>
            <a:pPr algn="just"/>
            <a:endParaRPr lang="en-US" sz="2000" dirty="0"/>
          </a:p>
          <a:p>
            <a:pPr algn="just"/>
            <a:r>
              <a:rPr lang="en-US" sz="2000" b="1" dirty="0"/>
              <a:t>Various resources such as:</a:t>
            </a:r>
          </a:p>
          <a:p>
            <a:pPr marL="342900" indent="-342900" algn="just">
              <a:buFont typeface="Arial" panose="020B0604020202020204" pitchFamily="34" charset="0"/>
              <a:buChar char="•"/>
            </a:pPr>
            <a:r>
              <a:rPr lang="en-US" sz="2000" dirty="0"/>
              <a:t>React.js &amp; Node.js Documentation </a:t>
            </a:r>
          </a:p>
          <a:p>
            <a:pPr marL="342900" indent="-342900" algn="just">
              <a:buFont typeface="Arial" panose="020B0604020202020204" pitchFamily="34" charset="0"/>
              <a:buChar char="•"/>
            </a:pPr>
            <a:r>
              <a:rPr lang="en-US" sz="2000" dirty="0"/>
              <a:t>MongoDB Documentation </a:t>
            </a:r>
          </a:p>
          <a:p>
            <a:pPr marL="342900" indent="-342900" algn="just">
              <a:buFont typeface="Arial" panose="020B0604020202020204" pitchFamily="34" charset="0"/>
              <a:buChar char="•"/>
            </a:pPr>
            <a:r>
              <a:rPr lang="en-US" sz="2000" dirty="0" err="1"/>
              <a:t>GeeksforGeeks</a:t>
            </a:r>
            <a:r>
              <a:rPr lang="en-US" sz="2000" dirty="0"/>
              <a:t> &amp; </a:t>
            </a:r>
            <a:r>
              <a:rPr lang="en-US" sz="2000" dirty="0" err="1"/>
              <a:t>freeCodeCamp</a:t>
            </a:r>
            <a:r>
              <a:rPr lang="en-US" sz="2000" dirty="0"/>
              <a:t> Tutorials </a:t>
            </a:r>
          </a:p>
          <a:p>
            <a:pPr marL="342900" indent="-342900" algn="just">
              <a:buFont typeface="Arial" panose="020B0604020202020204" pitchFamily="34" charset="0"/>
              <a:buChar char="•"/>
            </a:pPr>
            <a:r>
              <a:rPr lang="en-US" sz="2000" dirty="0" err="1"/>
              <a:t>Groq</a:t>
            </a:r>
            <a:r>
              <a:rPr lang="en-US" sz="2000" dirty="0"/>
              <a:t> AI Documentation</a:t>
            </a:r>
          </a:p>
          <a:p>
            <a:pPr algn="just"/>
            <a:endParaRPr lang="en-US" sz="2000" dirty="0"/>
          </a:p>
          <a:p>
            <a:pPr algn="just"/>
            <a:r>
              <a:rPr lang="en-US" sz="2000" dirty="0"/>
              <a:t>were studied to understand real-world booking systems and implement a scalable, secure, and user-friendly platform.</a:t>
            </a: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478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D027-7AD0-1185-ACD5-DF64396F20B6}"/>
              </a:ext>
            </a:extLst>
          </p:cNvPr>
          <p:cNvSpPr>
            <a:spLocks noGrp="1"/>
          </p:cNvSpPr>
          <p:nvPr>
            <p:ph type="title"/>
          </p:nvPr>
        </p:nvSpPr>
        <p:spPr>
          <a:xfrm>
            <a:off x="285190" y="0"/>
            <a:ext cx="5486040" cy="914040"/>
          </a:xfrm>
        </p:spPr>
        <p:txBody>
          <a:bodyPr/>
          <a:lstStyle/>
          <a:p>
            <a:r>
              <a:rPr lang="en-IN" b="1" dirty="0">
                <a:latin typeface="Times New Roman" panose="02020603050405020304" pitchFamily="18" charset="0"/>
                <a:cs typeface="Times New Roman" panose="02020603050405020304" pitchFamily="18" charset="0"/>
              </a:rPr>
              <a:t>Technology Stack: </a:t>
            </a:r>
          </a:p>
        </p:txBody>
      </p:sp>
      <p:sp>
        <p:nvSpPr>
          <p:cNvPr id="3" name="Subtitle 2">
            <a:extLst>
              <a:ext uri="{FF2B5EF4-FFF2-40B4-BE49-F238E27FC236}">
                <a16:creationId xmlns:a16="http://schemas.microsoft.com/office/drawing/2014/main" id="{4A39B6F8-FCD4-F1C7-DD7B-797312EA2027}"/>
              </a:ext>
            </a:extLst>
          </p:cNvPr>
          <p:cNvSpPr>
            <a:spLocks noGrp="1"/>
          </p:cNvSpPr>
          <p:nvPr>
            <p:ph type="subTitle"/>
          </p:nvPr>
        </p:nvSpPr>
        <p:spPr>
          <a:xfrm>
            <a:off x="285190" y="2028354"/>
            <a:ext cx="7908551" cy="3536577"/>
          </a:xfrm>
        </p:spPr>
        <p:txBody>
          <a:bodyPr/>
          <a:lstStyle/>
          <a:p>
            <a:r>
              <a:rPr lang="en-IN" sz="2000" b="1" dirty="0"/>
              <a:t>Frontend                                        </a:t>
            </a:r>
          </a:p>
          <a:p>
            <a:pPr marL="285750" indent="-285750">
              <a:buFont typeface="Arial" panose="020B0604020202020204" pitchFamily="34" charset="0"/>
              <a:buChar char="•"/>
            </a:pPr>
            <a:r>
              <a:rPr lang="en-IN" sz="1400" dirty="0"/>
              <a:t>HTML5 </a:t>
            </a:r>
          </a:p>
          <a:p>
            <a:pPr marL="285750" indent="-285750">
              <a:buFont typeface="Arial" panose="020B0604020202020204" pitchFamily="34" charset="0"/>
              <a:buChar char="•"/>
            </a:pPr>
            <a:r>
              <a:rPr lang="en-IN" sz="1400" dirty="0"/>
              <a:t>CSS3 </a:t>
            </a:r>
          </a:p>
          <a:p>
            <a:pPr marL="285750" indent="-285750">
              <a:buFont typeface="Arial" panose="020B0604020202020204" pitchFamily="34" charset="0"/>
              <a:buChar char="•"/>
            </a:pPr>
            <a:r>
              <a:rPr lang="en-IN" sz="1400" dirty="0"/>
              <a:t>JavaScript </a:t>
            </a:r>
          </a:p>
          <a:p>
            <a:pPr marL="285750" indent="-285750">
              <a:buFont typeface="Arial" panose="020B0604020202020204" pitchFamily="34" charset="0"/>
              <a:buChar char="•"/>
            </a:pPr>
            <a:r>
              <a:rPr lang="en-IN" sz="1400" dirty="0"/>
              <a:t>React.js</a:t>
            </a:r>
          </a:p>
          <a:p>
            <a:pPr marL="285750" indent="-285750">
              <a:buFont typeface="Arial" panose="020B0604020202020204" pitchFamily="34" charset="0"/>
              <a:buChar char="•"/>
            </a:pPr>
            <a:r>
              <a:rPr lang="en-IN" sz="1400" dirty="0"/>
              <a:t>Socket.io</a:t>
            </a:r>
          </a:p>
          <a:p>
            <a:pPr marL="285750" indent="-285750">
              <a:buFont typeface="Arial" panose="020B0604020202020204" pitchFamily="34" charset="0"/>
              <a:buChar char="•"/>
            </a:pPr>
            <a:endParaRPr lang="en-IN" sz="1400" dirty="0"/>
          </a:p>
          <a:p>
            <a:r>
              <a:rPr lang="en-IN" sz="2000" b="1" dirty="0"/>
              <a:t>Backend</a:t>
            </a:r>
          </a:p>
          <a:p>
            <a:pPr marL="285750" indent="-285750">
              <a:buFont typeface="Arial" panose="020B0604020202020204" pitchFamily="34" charset="0"/>
              <a:buChar char="•"/>
            </a:pPr>
            <a:r>
              <a:rPr lang="en-IN" sz="1400" dirty="0"/>
              <a:t>Node.js </a:t>
            </a:r>
          </a:p>
          <a:p>
            <a:pPr marL="285750" indent="-285750">
              <a:buFont typeface="Arial" panose="020B0604020202020204" pitchFamily="34" charset="0"/>
              <a:buChar char="•"/>
            </a:pPr>
            <a:r>
              <a:rPr lang="en-IN" sz="1400" dirty="0"/>
              <a:t>Express.js </a:t>
            </a:r>
          </a:p>
          <a:p>
            <a:pPr marL="285750" indent="-285750">
              <a:buFont typeface="Arial" panose="020B0604020202020204" pitchFamily="34" charset="0"/>
              <a:buChar char="•"/>
            </a:pPr>
            <a:r>
              <a:rPr lang="en-IN" sz="1400" dirty="0"/>
              <a:t>Socket.io</a:t>
            </a:r>
          </a:p>
          <a:p>
            <a:endParaRPr lang="en-IN" sz="1400" dirty="0"/>
          </a:p>
          <a:p>
            <a:r>
              <a:rPr lang="en-IN" sz="2000" b="1" dirty="0"/>
              <a:t>Database</a:t>
            </a:r>
          </a:p>
          <a:p>
            <a:pPr marL="285750" indent="-285750">
              <a:buFont typeface="Arial" panose="020B0604020202020204" pitchFamily="34" charset="0"/>
              <a:buChar char="•"/>
            </a:pPr>
            <a:r>
              <a:rPr lang="en-IN" sz="1400" dirty="0"/>
              <a:t>MongoDB </a:t>
            </a:r>
          </a:p>
          <a:p>
            <a:endParaRPr lang="en-IN" sz="1400" dirty="0"/>
          </a:p>
          <a:p>
            <a:r>
              <a:rPr lang="en-IN" sz="2000" b="1" dirty="0"/>
              <a:t>Authentication &amp; Security</a:t>
            </a:r>
          </a:p>
          <a:p>
            <a:pPr marL="285750" indent="-285750">
              <a:buFont typeface="Arial" panose="020B0604020202020204" pitchFamily="34" charset="0"/>
              <a:buChar char="•"/>
            </a:pPr>
            <a:r>
              <a:rPr lang="en-IN" sz="1400" dirty="0"/>
              <a:t>JWT Authentication </a:t>
            </a:r>
          </a:p>
          <a:p>
            <a:pPr marL="285750" indent="-285750">
              <a:buFont typeface="Arial" panose="020B0604020202020204" pitchFamily="34" charset="0"/>
              <a:buChar char="•"/>
            </a:pPr>
            <a:r>
              <a:rPr lang="en-IN" sz="1400" dirty="0" err="1"/>
              <a:t>bcrypt</a:t>
            </a:r>
            <a:r>
              <a:rPr lang="en-IN" sz="1400" dirty="0"/>
              <a:t> </a:t>
            </a:r>
          </a:p>
          <a:p>
            <a:endParaRPr lang="en-IN" sz="1400" dirty="0"/>
          </a:p>
          <a:p>
            <a:r>
              <a:rPr lang="it-IT" sz="2000" b="1" dirty="0"/>
              <a:t>AI &amp; APIs</a:t>
            </a:r>
          </a:p>
          <a:p>
            <a:pPr marL="285750" indent="-285750">
              <a:buFont typeface="Arial" panose="020B0604020202020204" pitchFamily="34" charset="0"/>
              <a:buChar char="•"/>
            </a:pPr>
            <a:r>
              <a:rPr lang="it-IT" sz="1400" dirty="0"/>
              <a:t>Groq API </a:t>
            </a:r>
          </a:p>
          <a:p>
            <a:pPr marL="285750" indent="-285750">
              <a:buFont typeface="Arial" panose="020B0604020202020204" pitchFamily="34" charset="0"/>
              <a:buChar char="•"/>
            </a:pPr>
            <a:r>
              <a:rPr lang="it-IT" sz="1400" dirty="0"/>
              <a:t>AI-based Recommendations</a:t>
            </a:r>
          </a:p>
          <a:p>
            <a:endParaRPr lang="en-IN" sz="1400" dirty="0"/>
          </a:p>
          <a:p>
            <a:r>
              <a:rPr lang="en-IN" sz="2000" b="1" dirty="0"/>
              <a:t>Development Tools</a:t>
            </a:r>
          </a:p>
          <a:p>
            <a:pPr marL="285750" indent="-285750">
              <a:buFont typeface="Arial" panose="020B0604020202020204" pitchFamily="34" charset="0"/>
              <a:buChar char="•"/>
            </a:pPr>
            <a:r>
              <a:rPr lang="en-IN" sz="1400" dirty="0"/>
              <a:t>GitHub </a:t>
            </a:r>
          </a:p>
          <a:p>
            <a:pPr marL="285750" indent="-285750">
              <a:buFont typeface="Arial" panose="020B0604020202020204" pitchFamily="34" charset="0"/>
              <a:buChar char="•"/>
            </a:pPr>
            <a:r>
              <a:rPr lang="en-IN" sz="1400" dirty="0"/>
              <a:t>Postman </a:t>
            </a:r>
          </a:p>
          <a:p>
            <a:pPr marL="285750" indent="-285750">
              <a:buFont typeface="Arial" panose="020B0604020202020204" pitchFamily="34" charset="0"/>
              <a:buChar char="•"/>
            </a:pPr>
            <a:r>
              <a:rPr lang="en-IN" sz="1400" dirty="0"/>
              <a:t>VS Code</a:t>
            </a:r>
          </a:p>
        </p:txBody>
      </p:sp>
    </p:spTree>
    <p:extLst>
      <p:ext uri="{BB962C8B-B14F-4D97-AF65-F5344CB8AC3E}">
        <p14:creationId xmlns:p14="http://schemas.microsoft.com/office/powerpoint/2010/main" val="2441761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238F9-36ED-A029-4139-AA7445FC8BA0}"/>
              </a:ext>
            </a:extLst>
          </p:cNvPr>
          <p:cNvSpPr>
            <a:spLocks noGrp="1"/>
          </p:cNvSpPr>
          <p:nvPr>
            <p:ph type="title"/>
          </p:nvPr>
        </p:nvSpPr>
        <p:spPr/>
        <p:txBody>
          <a:bodyPr/>
          <a:lstStyle/>
          <a:p>
            <a:r>
              <a:rPr lang="en-US" dirty="0"/>
              <a:t>Core Features</a:t>
            </a:r>
            <a:endParaRPr lang="en-IN" dirty="0"/>
          </a:p>
        </p:txBody>
      </p:sp>
      <p:sp>
        <p:nvSpPr>
          <p:cNvPr id="3" name="Text Placeholder 2">
            <a:extLst>
              <a:ext uri="{FF2B5EF4-FFF2-40B4-BE49-F238E27FC236}">
                <a16:creationId xmlns:a16="http://schemas.microsoft.com/office/drawing/2014/main" id="{90F95735-D46A-F3BA-DBFE-8A80BD939D7C}"/>
              </a:ext>
            </a:extLst>
          </p:cNvPr>
          <p:cNvSpPr>
            <a:spLocks noGrp="1"/>
          </p:cNvSpPr>
          <p:nvPr>
            <p:ph type="body"/>
          </p:nvPr>
        </p:nvSpPr>
        <p:spPr>
          <a:xfrm>
            <a:off x="201168" y="1051560"/>
            <a:ext cx="8229240" cy="4319928"/>
          </a:xfrm>
        </p:spPr>
        <p:txBody>
          <a:bodyPr>
            <a:normAutofit fontScale="25000" lnSpcReduction="20000"/>
          </a:bodyPr>
          <a:lstStyle/>
          <a:p>
            <a:r>
              <a:rPr lang="en-US" sz="7200" b="1" dirty="0"/>
              <a:t>1. User Authentication</a:t>
            </a:r>
          </a:p>
          <a:p>
            <a:r>
              <a:rPr lang="en-US" sz="7200" dirty="0"/>
              <a:t>Secure signup and login system using JWT authentication and encrypted passwords.</a:t>
            </a:r>
          </a:p>
          <a:p>
            <a:r>
              <a:rPr lang="en-US" sz="7200" b="1" dirty="0"/>
              <a:t>2. AI Chatbot Assistance</a:t>
            </a:r>
          </a:p>
          <a:p>
            <a:r>
              <a:rPr lang="en-US" sz="7200" dirty="0"/>
              <a:t>Integrated AI chatbot to help users with recommendations, booking guidance, and queries.</a:t>
            </a:r>
          </a:p>
          <a:p>
            <a:r>
              <a:rPr lang="en-US" sz="7200" b="1" dirty="0"/>
              <a:t>3. Real-Time Seat Selection</a:t>
            </a:r>
          </a:p>
          <a:p>
            <a:r>
              <a:rPr lang="en-US" sz="7200" dirty="0"/>
              <a:t>Users can view and select available seats dynamically during booking.</a:t>
            </a:r>
          </a:p>
          <a:p>
            <a:r>
              <a:rPr lang="en-US" sz="7200" b="1" dirty="0"/>
              <a:t>4. Online Ticket Booking</a:t>
            </a:r>
          </a:p>
          <a:p>
            <a:r>
              <a:rPr lang="en-US" sz="7200" dirty="0"/>
              <a:t>Provides smooth and fast movie and event ticket reservation process.</a:t>
            </a:r>
          </a:p>
          <a:p>
            <a:r>
              <a:rPr lang="en-US" sz="7200" b="1" dirty="0"/>
              <a:t>5. Digital Ticket Generation</a:t>
            </a:r>
          </a:p>
          <a:p>
            <a:r>
              <a:rPr lang="en-US" sz="7200" dirty="0"/>
              <a:t>Automatically generates downloadable digital tickets after successful booking.</a:t>
            </a:r>
          </a:p>
          <a:p>
            <a:r>
              <a:rPr lang="en-US" sz="7200" b="1" dirty="0"/>
              <a:t>6. Community Chat System</a:t>
            </a:r>
          </a:p>
          <a:p>
            <a:r>
              <a:rPr lang="en-US" sz="7200" dirty="0"/>
              <a:t>Allows users to interact, discuss movies, and share reviews in real time.</a:t>
            </a:r>
          </a:p>
          <a:p>
            <a:r>
              <a:rPr lang="en-US" sz="7200" b="1" dirty="0"/>
              <a:t>7. Admin Dashboard</a:t>
            </a:r>
          </a:p>
          <a:p>
            <a:r>
              <a:rPr lang="en-US" sz="7200" dirty="0"/>
              <a:t>Admins can manage movies, events, users, bookings, and theatre details efficiently.</a:t>
            </a:r>
          </a:p>
          <a:p>
            <a:r>
              <a:rPr lang="en-US" sz="7200" b="1" dirty="0"/>
              <a:t>8. Responsive Web Application</a:t>
            </a:r>
          </a:p>
          <a:p>
            <a:r>
              <a:rPr lang="en-US" sz="7200" dirty="0"/>
              <a:t>The platform works smoothly across desktops, tablets, and mobile devices.</a:t>
            </a:r>
          </a:p>
          <a:p>
            <a:endParaRPr lang="en-IN" dirty="0"/>
          </a:p>
        </p:txBody>
      </p:sp>
    </p:spTree>
    <p:extLst>
      <p:ext uri="{BB962C8B-B14F-4D97-AF65-F5344CB8AC3E}">
        <p14:creationId xmlns:p14="http://schemas.microsoft.com/office/powerpoint/2010/main" val="163360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AFBA-6A92-7BE5-AC0F-09F74D6D4888}"/>
              </a:ext>
            </a:extLst>
          </p:cNvPr>
          <p:cNvSpPr>
            <a:spLocks noGrp="1"/>
          </p:cNvSpPr>
          <p:nvPr>
            <p:ph type="title"/>
          </p:nvPr>
        </p:nvSpPr>
        <p:spPr/>
        <p:txBody>
          <a:bodyPr/>
          <a:lstStyle/>
          <a:p>
            <a:r>
              <a:rPr lang="en-US" dirty="0"/>
              <a:t>Flow Chart</a:t>
            </a:r>
            <a:endParaRPr lang="en-IN" dirty="0"/>
          </a:p>
        </p:txBody>
      </p:sp>
      <p:pic>
        <p:nvPicPr>
          <p:cNvPr id="4" name="Picture 3">
            <a:extLst>
              <a:ext uri="{FF2B5EF4-FFF2-40B4-BE49-F238E27FC236}">
                <a16:creationId xmlns:a16="http://schemas.microsoft.com/office/drawing/2014/main" id="{A16AAAF2-288C-1A79-24B1-B1BCCF6739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592" y="914040"/>
            <a:ext cx="8659368" cy="5480304"/>
          </a:xfrm>
          <a:prstGeom prst="rect">
            <a:avLst/>
          </a:prstGeom>
        </p:spPr>
      </p:pic>
    </p:spTree>
    <p:extLst>
      <p:ext uri="{BB962C8B-B14F-4D97-AF65-F5344CB8AC3E}">
        <p14:creationId xmlns:p14="http://schemas.microsoft.com/office/powerpoint/2010/main" val="2953793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FF22-CAB6-A220-D488-0DD514BABA4D}"/>
              </a:ext>
            </a:extLst>
          </p:cNvPr>
          <p:cNvSpPr>
            <a:spLocks noGrp="1"/>
          </p:cNvSpPr>
          <p:nvPr>
            <p:ph type="title"/>
          </p:nvPr>
        </p:nvSpPr>
        <p:spPr>
          <a:xfrm>
            <a:off x="470826" y="72436"/>
            <a:ext cx="5486040" cy="914040"/>
          </a:xfrm>
        </p:spPr>
        <p:txBody>
          <a:bodyPr/>
          <a:lstStyle/>
          <a:p>
            <a:r>
              <a:rPr lang="en-IN" sz="4000" b="1" dirty="0">
                <a:latin typeface="Times New Roman" panose="02020603050405020304" pitchFamily="18" charset="0"/>
                <a:cs typeface="Times New Roman" panose="02020603050405020304" pitchFamily="18" charset="0"/>
              </a:rPr>
              <a:t>Challenges &amp; Solutions: </a:t>
            </a:r>
          </a:p>
        </p:txBody>
      </p:sp>
      <p:graphicFrame>
        <p:nvGraphicFramePr>
          <p:cNvPr id="5" name="Table 4">
            <a:extLst>
              <a:ext uri="{FF2B5EF4-FFF2-40B4-BE49-F238E27FC236}">
                <a16:creationId xmlns:a16="http://schemas.microsoft.com/office/drawing/2014/main" id="{8EBEBD6A-4C51-5446-A21F-D2463A2DF772}"/>
              </a:ext>
            </a:extLst>
          </p:cNvPr>
          <p:cNvGraphicFramePr>
            <a:graphicFrameLocks noGrp="1"/>
          </p:cNvGraphicFramePr>
          <p:nvPr>
            <p:extLst>
              <p:ext uri="{D42A27DB-BD31-4B8C-83A1-F6EECF244321}">
                <p14:modId xmlns:p14="http://schemas.microsoft.com/office/powerpoint/2010/main" val="1508527255"/>
              </p:ext>
            </p:extLst>
          </p:nvPr>
        </p:nvGraphicFramePr>
        <p:xfrm>
          <a:off x="218380" y="1393294"/>
          <a:ext cx="8025130" cy="3779520"/>
        </p:xfrm>
        <a:graphic>
          <a:graphicData uri="http://schemas.openxmlformats.org/drawingml/2006/table">
            <a:tbl>
              <a:tblPr/>
              <a:tblGrid>
                <a:gridCol w="3910330">
                  <a:extLst>
                    <a:ext uri="{9D8B030D-6E8A-4147-A177-3AD203B41FA5}">
                      <a16:colId xmlns:a16="http://schemas.microsoft.com/office/drawing/2014/main" val="1489072413"/>
                    </a:ext>
                  </a:extLst>
                </a:gridCol>
                <a:gridCol w="4114800">
                  <a:extLst>
                    <a:ext uri="{9D8B030D-6E8A-4147-A177-3AD203B41FA5}">
                      <a16:colId xmlns:a16="http://schemas.microsoft.com/office/drawing/2014/main" val="3105973750"/>
                    </a:ext>
                  </a:extLst>
                </a:gridCol>
              </a:tblGrid>
              <a:tr h="0">
                <a:tc>
                  <a:txBody>
                    <a:bodyPr/>
                    <a:lstStyle/>
                    <a:p>
                      <a:pPr>
                        <a:buNone/>
                      </a:pPr>
                      <a:r>
                        <a:rPr lang="en-IN" sz="2000" b="1" dirty="0"/>
                        <a:t>Challenges</a:t>
                      </a:r>
                    </a:p>
                  </a:txBody>
                  <a:tcPr anchor="ctr">
                    <a:lnL>
                      <a:noFill/>
                    </a:lnL>
                    <a:lnR>
                      <a:noFill/>
                    </a:lnR>
                    <a:lnT>
                      <a:noFill/>
                    </a:lnT>
                    <a:lnB>
                      <a:noFill/>
                    </a:lnB>
                    <a:noFill/>
                  </a:tcPr>
                </a:tc>
                <a:tc>
                  <a:txBody>
                    <a:bodyPr/>
                    <a:lstStyle/>
                    <a:p>
                      <a:pPr>
                        <a:buNone/>
                      </a:pPr>
                      <a:r>
                        <a:rPr lang="en-IN" sz="2000" b="1" dirty="0"/>
                        <a:t>Solutions</a:t>
                      </a:r>
                    </a:p>
                  </a:txBody>
                  <a:tcPr anchor="ctr">
                    <a:lnL>
                      <a:noFill/>
                    </a:lnL>
                    <a:lnR>
                      <a:noFill/>
                    </a:lnR>
                    <a:lnT>
                      <a:noFill/>
                    </a:lnT>
                    <a:lnB>
                      <a:noFill/>
                    </a:lnB>
                    <a:noFill/>
                  </a:tcPr>
                </a:tc>
                <a:extLst>
                  <a:ext uri="{0D108BD9-81ED-4DB2-BD59-A6C34878D82A}">
                    <a16:rowId xmlns:a16="http://schemas.microsoft.com/office/drawing/2014/main" val="11546364"/>
                  </a:ext>
                </a:extLst>
              </a:tr>
              <a:tr h="0">
                <a:tc>
                  <a:txBody>
                    <a:bodyPr/>
                    <a:lstStyle/>
                    <a:p>
                      <a:pPr marL="285750" indent="-285750">
                        <a:buFont typeface="Arial" panose="020B0604020202020204" pitchFamily="34" charset="0"/>
                        <a:buChar char="•"/>
                      </a:pPr>
                      <a:r>
                        <a:rPr lang="en-IN" dirty="0"/>
                        <a:t>Real-time seat booking conflicts</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US" dirty="0"/>
                        <a:t>Implemented dynamic seat locking system</a:t>
                      </a:r>
                    </a:p>
                  </a:txBody>
                  <a:tcPr anchor="ctr">
                    <a:lnL>
                      <a:noFill/>
                    </a:lnL>
                    <a:lnR>
                      <a:noFill/>
                    </a:lnR>
                    <a:lnT>
                      <a:noFill/>
                    </a:lnT>
                    <a:lnB>
                      <a:noFill/>
                    </a:lnB>
                    <a:noFill/>
                  </a:tcPr>
                </a:tc>
                <a:extLst>
                  <a:ext uri="{0D108BD9-81ED-4DB2-BD59-A6C34878D82A}">
                    <a16:rowId xmlns:a16="http://schemas.microsoft.com/office/drawing/2014/main" val="1653088286"/>
                  </a:ext>
                </a:extLst>
              </a:tr>
              <a:tr h="0">
                <a:tc>
                  <a:txBody>
                    <a:bodyPr/>
                    <a:lstStyle/>
                    <a:p>
                      <a:pPr marL="285750" indent="-285750">
                        <a:buFont typeface="Arial" panose="020B0604020202020204" pitchFamily="34" charset="0"/>
                        <a:buChar char="•"/>
                      </a:pPr>
                      <a:r>
                        <a:rPr lang="en-IN" dirty="0"/>
                        <a:t>Secure user authentication</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US" dirty="0"/>
                        <a:t>Used JWT and </a:t>
                      </a:r>
                      <a:r>
                        <a:rPr lang="en-US" dirty="0" err="1"/>
                        <a:t>bcrypt</a:t>
                      </a:r>
                      <a:r>
                        <a:rPr lang="en-US" dirty="0"/>
                        <a:t> for security</a:t>
                      </a:r>
                    </a:p>
                  </a:txBody>
                  <a:tcPr anchor="ctr">
                    <a:lnL>
                      <a:noFill/>
                    </a:lnL>
                    <a:lnR>
                      <a:noFill/>
                    </a:lnR>
                    <a:lnT>
                      <a:noFill/>
                    </a:lnT>
                    <a:lnB>
                      <a:noFill/>
                    </a:lnB>
                    <a:noFill/>
                  </a:tcPr>
                </a:tc>
                <a:extLst>
                  <a:ext uri="{0D108BD9-81ED-4DB2-BD59-A6C34878D82A}">
                    <a16:rowId xmlns:a16="http://schemas.microsoft.com/office/drawing/2014/main" val="3274934177"/>
                  </a:ext>
                </a:extLst>
              </a:tr>
              <a:tr h="0">
                <a:tc>
                  <a:txBody>
                    <a:bodyPr/>
                    <a:lstStyle/>
                    <a:p>
                      <a:pPr marL="285750" indent="-285750">
                        <a:buFont typeface="Arial" panose="020B0604020202020204" pitchFamily="34" charset="0"/>
                        <a:buChar char="•"/>
                      </a:pPr>
                      <a:r>
                        <a:rPr lang="en-US" dirty="0"/>
                        <a:t>Managing large movie/event data</a:t>
                      </a:r>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IN" dirty="0"/>
                        <a:t>Used MongoDB for efficient database handling</a:t>
                      </a:r>
                    </a:p>
                  </a:txBody>
                  <a:tcPr anchor="ctr">
                    <a:lnL>
                      <a:noFill/>
                    </a:lnL>
                    <a:lnR>
                      <a:noFill/>
                    </a:lnR>
                    <a:lnT>
                      <a:noFill/>
                    </a:lnT>
                    <a:lnB>
                      <a:noFill/>
                    </a:lnB>
                    <a:noFill/>
                  </a:tcPr>
                </a:tc>
                <a:extLst>
                  <a:ext uri="{0D108BD9-81ED-4DB2-BD59-A6C34878D82A}">
                    <a16:rowId xmlns:a16="http://schemas.microsoft.com/office/drawing/2014/main" val="2931719103"/>
                  </a:ext>
                </a:extLst>
              </a:tr>
              <a:tr h="0">
                <a:tc>
                  <a:txBody>
                    <a:bodyPr/>
                    <a:lstStyle/>
                    <a:p>
                      <a:pPr marL="285750" indent="-285750">
                        <a:buFont typeface="Arial" panose="020B0604020202020204" pitchFamily="34" charset="0"/>
                        <a:buChar char="•"/>
                      </a:pPr>
                      <a:r>
                        <a:rPr lang="en-US" dirty="0"/>
                        <a:t>Responsive UI for all devices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Implementing AI-based recommendations</a:t>
                      </a:r>
                    </a:p>
                    <a:p>
                      <a:pPr marL="285750" indent="-285750">
                        <a:buFont typeface="Arial" panose="020B0604020202020204" pitchFamily="34" charset="0"/>
                        <a:buChar char="•"/>
                      </a:pPr>
                      <a:r>
                        <a:rPr lang="en-IN" dirty="0"/>
                        <a:t>Building real-time community chat</a:t>
                      </a:r>
                      <a:endParaRPr lang="en-US" dirty="0"/>
                    </a:p>
                  </a:txBody>
                  <a:tcPr anchor="ctr">
                    <a:lnL>
                      <a:noFill/>
                    </a:lnL>
                    <a:lnR>
                      <a:noFill/>
                    </a:lnR>
                    <a:lnT>
                      <a:noFill/>
                    </a:lnT>
                    <a:lnB>
                      <a:noFill/>
                    </a:lnB>
                    <a:noFill/>
                  </a:tcPr>
                </a:tc>
                <a:tc>
                  <a:txBody>
                    <a:bodyPr/>
                    <a:lstStyle/>
                    <a:p>
                      <a:pPr marL="285750" indent="-285750">
                        <a:buFont typeface="Arial" panose="020B0604020202020204" pitchFamily="34" charset="0"/>
                        <a:buChar char="•"/>
                      </a:pPr>
                      <a:r>
                        <a:rPr lang="en-US" dirty="0"/>
                        <a:t>Developed responsive frontend using React.js</a:t>
                      </a:r>
                    </a:p>
                    <a:p>
                      <a:pPr marL="285750" indent="-285750">
                        <a:buFont typeface="Arial" panose="020B0604020202020204" pitchFamily="34" charset="0"/>
                        <a:buChar char="•"/>
                      </a:pPr>
                      <a:r>
                        <a:rPr lang="en-IN" dirty="0"/>
                        <a:t>Integrated </a:t>
                      </a:r>
                      <a:r>
                        <a:rPr lang="en-IN" dirty="0" err="1"/>
                        <a:t>Groq</a:t>
                      </a:r>
                      <a:r>
                        <a:rPr lang="en-IN" dirty="0"/>
                        <a:t> API for smart suggestions</a:t>
                      </a:r>
                    </a:p>
                    <a:p>
                      <a:pPr marL="285750" indent="-285750">
                        <a:buFont typeface="Arial" panose="020B0604020202020204" pitchFamily="34" charset="0"/>
                        <a:buChar char="•"/>
                      </a:pPr>
                      <a:r>
                        <a:rPr lang="en-US" dirty="0"/>
                        <a:t>Used socket-based communication for instant messaging</a:t>
                      </a:r>
                    </a:p>
                  </a:txBody>
                  <a:tcPr anchor="ctr">
                    <a:lnL>
                      <a:noFill/>
                    </a:lnL>
                    <a:lnR>
                      <a:noFill/>
                    </a:lnR>
                    <a:lnT>
                      <a:noFill/>
                    </a:lnT>
                    <a:lnB>
                      <a:noFill/>
                    </a:lnB>
                    <a:noFill/>
                  </a:tcPr>
                </a:tc>
                <a:extLst>
                  <a:ext uri="{0D108BD9-81ED-4DB2-BD59-A6C34878D82A}">
                    <a16:rowId xmlns:a16="http://schemas.microsoft.com/office/drawing/2014/main" val="2185491320"/>
                  </a:ext>
                </a:extLst>
              </a:tr>
            </a:tbl>
          </a:graphicData>
        </a:graphic>
      </p:graphicFrame>
    </p:spTree>
    <p:extLst>
      <p:ext uri="{BB962C8B-B14F-4D97-AF65-F5344CB8AC3E}">
        <p14:creationId xmlns:p14="http://schemas.microsoft.com/office/powerpoint/2010/main" val="2316722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1F948-D4BF-E756-952D-BA7413DE936A}"/>
              </a:ext>
            </a:extLst>
          </p:cNvPr>
          <p:cNvSpPr>
            <a:spLocks noGrp="1"/>
          </p:cNvSpPr>
          <p:nvPr>
            <p:ph type="title"/>
          </p:nvPr>
        </p:nvSpPr>
        <p:spPr>
          <a:xfrm>
            <a:off x="457200" y="62753"/>
            <a:ext cx="5486040" cy="914040"/>
          </a:xfrm>
        </p:spPr>
        <p:txBody>
          <a:bodyPr/>
          <a:lstStyle/>
          <a:p>
            <a:r>
              <a:rPr lang="en-IN" b="1">
                <a:latin typeface="Times New Roman" panose="02020603050405020304" pitchFamily="18" charset="0"/>
                <a:cs typeface="Times New Roman" panose="02020603050405020304" pitchFamily="18" charset="0"/>
              </a:rPr>
              <a:t>Limitations: </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BC2415C-8704-E221-54F4-705375592A93}"/>
              </a:ext>
            </a:extLst>
          </p:cNvPr>
          <p:cNvSpPr>
            <a:spLocks noGrp="1"/>
          </p:cNvSpPr>
          <p:nvPr>
            <p:ph type="subTitle"/>
          </p:nvPr>
        </p:nvSpPr>
        <p:spPr>
          <a:xfrm>
            <a:off x="329184" y="1255793"/>
            <a:ext cx="8229240" cy="3977280"/>
          </a:xfrm>
        </p:spPr>
        <p:txBody>
          <a:bodyPr/>
          <a:lstStyle/>
          <a:p>
            <a:pPr marL="457200" indent="-457200" algn="just">
              <a:lnSpc>
                <a:spcPct val="160000"/>
              </a:lnSpc>
              <a:buFont typeface="+mj-lt"/>
              <a:buAutoNum type="arabicPeriod"/>
            </a:pPr>
            <a:r>
              <a:rPr lang="en-US" sz="2000" dirty="0"/>
              <a:t>The platform currently supports limited theatres and local events.</a:t>
            </a:r>
          </a:p>
          <a:p>
            <a:pPr marL="457200" indent="-457200" algn="just">
              <a:lnSpc>
                <a:spcPct val="160000"/>
              </a:lnSpc>
              <a:buFont typeface="+mj-lt"/>
              <a:buAutoNum type="arabicPeriod"/>
            </a:pPr>
            <a:r>
              <a:rPr lang="en-US" sz="2000" dirty="0"/>
              <a:t>Continuous internet connection is required for booking and community chat features.</a:t>
            </a:r>
          </a:p>
          <a:p>
            <a:pPr marL="457200" indent="-457200" algn="just">
              <a:lnSpc>
                <a:spcPct val="160000"/>
              </a:lnSpc>
              <a:buFont typeface="+mj-lt"/>
              <a:buAutoNum type="arabicPeriod"/>
            </a:pPr>
            <a:r>
              <a:rPr lang="en-US" sz="2000" dirty="0"/>
              <a:t>High user traffic may affect real-time seat updates and chat performance.</a:t>
            </a:r>
          </a:p>
          <a:p>
            <a:pPr marL="457200" indent="-457200" algn="just">
              <a:lnSpc>
                <a:spcPct val="160000"/>
              </a:lnSpc>
              <a:buFont typeface="+mj-lt"/>
              <a:buAutoNum type="arabicPeriod"/>
            </a:pPr>
            <a:r>
              <a:rPr lang="en-US" sz="2000" dirty="0"/>
              <a:t>AI recommendations depend on available user activity and data accuracy.</a:t>
            </a:r>
          </a:p>
          <a:p>
            <a:pPr marL="457200" indent="-457200" algn="just">
              <a:lnSpc>
                <a:spcPct val="160000"/>
              </a:lnSpc>
              <a:buFont typeface="+mj-lt"/>
              <a:buAutoNum type="arabicPeriod"/>
            </a:pPr>
            <a:r>
              <a:rPr lang="en-US" sz="2000" dirty="0"/>
              <a:t>Some advanced features like multilingual support and live streaming are not implemented yet.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0095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525FD-E6F0-14FE-48B2-E52978679991}"/>
              </a:ext>
            </a:extLst>
          </p:cNvPr>
          <p:cNvSpPr>
            <a:spLocks noGrp="1"/>
          </p:cNvSpPr>
          <p:nvPr>
            <p:ph type="title"/>
          </p:nvPr>
        </p:nvSpPr>
        <p:spPr>
          <a:xfrm>
            <a:off x="322729" y="0"/>
            <a:ext cx="5486040" cy="914040"/>
          </a:xfrm>
        </p:spPr>
        <p:txBody>
          <a:bodyPr/>
          <a:lstStyle/>
          <a:p>
            <a:r>
              <a:rPr lang="en-IN" b="1" dirty="0">
                <a:latin typeface="Times New Roman" panose="02020603050405020304" pitchFamily="18" charset="0"/>
                <a:cs typeface="Times New Roman" panose="02020603050405020304" pitchFamily="18" charset="0"/>
              </a:rPr>
              <a:t>Future Scope: </a:t>
            </a:r>
          </a:p>
        </p:txBody>
      </p:sp>
      <p:sp>
        <p:nvSpPr>
          <p:cNvPr id="3" name="Subtitle 2">
            <a:extLst>
              <a:ext uri="{FF2B5EF4-FFF2-40B4-BE49-F238E27FC236}">
                <a16:creationId xmlns:a16="http://schemas.microsoft.com/office/drawing/2014/main" id="{30807534-2BE4-F1BC-BEF4-45641F3F3699}"/>
              </a:ext>
            </a:extLst>
          </p:cNvPr>
          <p:cNvSpPr>
            <a:spLocks noGrp="1"/>
          </p:cNvSpPr>
          <p:nvPr>
            <p:ph type="subTitle"/>
          </p:nvPr>
        </p:nvSpPr>
        <p:spPr>
          <a:xfrm>
            <a:off x="222145" y="760199"/>
            <a:ext cx="8229240" cy="4532929"/>
          </a:xfrm>
        </p:spPr>
        <p:txBody>
          <a:bodyPr/>
          <a:lstStyle/>
          <a:p>
            <a:pPr marL="457200" indent="-457200" algn="just">
              <a:buFont typeface="+mj-lt"/>
              <a:buAutoNum type="arabicPeriod"/>
            </a:pPr>
            <a:r>
              <a:rPr lang="en-US" sz="2400" dirty="0"/>
              <a:t>Integration of advanced AI-based personalized recommendations.</a:t>
            </a:r>
          </a:p>
          <a:p>
            <a:pPr marL="457200" indent="-457200" algn="just">
              <a:buFont typeface="+mj-lt"/>
              <a:buAutoNum type="arabicPeriod"/>
            </a:pPr>
            <a:r>
              <a:rPr lang="en-US" sz="2400" dirty="0"/>
              <a:t>Support for multilingual interface and voice search. </a:t>
            </a:r>
          </a:p>
          <a:p>
            <a:pPr marL="457200" indent="-457200" algn="just">
              <a:buFont typeface="+mj-lt"/>
              <a:buAutoNum type="arabicPeriod"/>
            </a:pPr>
            <a:r>
              <a:rPr lang="en-US" sz="2400" dirty="0"/>
              <a:t>Expansion to more cities, theatres, and event categories. </a:t>
            </a:r>
          </a:p>
          <a:p>
            <a:pPr marL="457200" indent="-457200" algn="just">
              <a:buFont typeface="+mj-lt"/>
              <a:buAutoNum type="arabicPeriod"/>
            </a:pPr>
            <a:r>
              <a:rPr lang="en-US" sz="2400" dirty="0"/>
              <a:t>Implementation of live streaming and virtual event booking.</a:t>
            </a:r>
          </a:p>
          <a:p>
            <a:pPr marL="457200" indent="-457200" algn="just">
              <a:buFont typeface="+mj-lt"/>
              <a:buAutoNum type="arabicPeriod"/>
            </a:pPr>
            <a:r>
              <a:rPr lang="en-US" sz="2400" dirty="0"/>
              <a:t>Enhanced community features like group discussions and reviews.</a:t>
            </a:r>
          </a:p>
          <a:p>
            <a:pPr marL="457200" indent="-457200" algn="just">
              <a:buFont typeface="+mj-lt"/>
              <a:buAutoNum type="arabicPeriod"/>
            </a:pPr>
            <a:r>
              <a:rPr lang="en-US" sz="2400" dirty="0"/>
              <a:t>Mobile application development for Android and iOS platforms.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510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F49B8-FC47-3127-6CC8-D80F54D37435}"/>
              </a:ext>
            </a:extLst>
          </p:cNvPr>
          <p:cNvSpPr>
            <a:spLocks noGrp="1"/>
          </p:cNvSpPr>
          <p:nvPr>
            <p:ph type="title"/>
          </p:nvPr>
        </p:nvSpPr>
        <p:spPr>
          <a:xfrm>
            <a:off x="313945" y="0"/>
            <a:ext cx="5486040" cy="914040"/>
          </a:xfrm>
        </p:spPr>
        <p:txBody>
          <a:bodyPr/>
          <a:lstStyle/>
          <a:p>
            <a:r>
              <a:rPr lang="en-IN" b="1" dirty="0">
                <a:latin typeface="Times New Roman" panose="02020603050405020304" pitchFamily="18" charset="0"/>
                <a:cs typeface="Times New Roman" panose="02020603050405020304" pitchFamily="18" charset="0"/>
              </a:rPr>
              <a:t>Conclusion: </a:t>
            </a:r>
          </a:p>
        </p:txBody>
      </p:sp>
      <p:sp>
        <p:nvSpPr>
          <p:cNvPr id="3" name="Subtitle 2">
            <a:extLst>
              <a:ext uri="{FF2B5EF4-FFF2-40B4-BE49-F238E27FC236}">
                <a16:creationId xmlns:a16="http://schemas.microsoft.com/office/drawing/2014/main" id="{AF0F9A73-B599-772D-1E37-A82B36D2DED9}"/>
              </a:ext>
            </a:extLst>
          </p:cNvPr>
          <p:cNvSpPr>
            <a:spLocks noGrp="1"/>
          </p:cNvSpPr>
          <p:nvPr>
            <p:ph type="subTitle"/>
          </p:nvPr>
        </p:nvSpPr>
        <p:spPr>
          <a:xfrm>
            <a:off x="213361" y="299234"/>
            <a:ext cx="8229240" cy="5224818"/>
          </a:xfrm>
        </p:spPr>
        <p:txBody>
          <a:bodyPr/>
          <a:lstStyle/>
          <a:p>
            <a:pPr algn="just"/>
            <a:r>
              <a:rPr lang="en-US" sz="2000" dirty="0" err="1"/>
              <a:t>QuickShow</a:t>
            </a:r>
            <a:r>
              <a:rPr lang="en-US" sz="2000" dirty="0"/>
              <a:t> is a smart and user-friendly movie and event booking platform developed to simplify the online ticket reservation process. The system provides features such as secure authentication, real-time seat selection, AI-based recommendations, community chat, and responsive user experience.</a:t>
            </a:r>
          </a:p>
          <a:p>
            <a:pPr algn="just"/>
            <a:endParaRPr lang="en-US" sz="2000" dirty="0"/>
          </a:p>
          <a:p>
            <a:pPr algn="just"/>
            <a:r>
              <a:rPr lang="en-US" sz="2000" dirty="0"/>
              <a:t>Using modern technologies like React.js, Node.js, MongoDB, and </a:t>
            </a:r>
            <a:r>
              <a:rPr lang="en-US" sz="2000" dirty="0" err="1"/>
              <a:t>Groq</a:t>
            </a:r>
            <a:r>
              <a:rPr lang="en-US" sz="2000" dirty="0"/>
              <a:t> API, the project successfully delivers a scalable and efficient entertainment booking solution.</a:t>
            </a:r>
          </a:p>
          <a:p>
            <a:pPr algn="just"/>
            <a:endParaRPr lang="en-US" sz="2000" dirty="0"/>
          </a:p>
          <a:p>
            <a:pPr algn="just"/>
            <a:r>
              <a:rPr lang="en-US" sz="2000" dirty="0"/>
              <a:t>This project enhanced practical knowledge of full-stack development, database management, API integration, and real-world application design. </a:t>
            </a:r>
          </a:p>
        </p:txBody>
      </p:sp>
    </p:spTree>
    <p:extLst>
      <p:ext uri="{BB962C8B-B14F-4D97-AF65-F5344CB8AC3E}">
        <p14:creationId xmlns:p14="http://schemas.microsoft.com/office/powerpoint/2010/main" val="613935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283696"/>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endParaRPr lang="en-GB" sz="1200" b="0" strike="noStrike" spc="-1" dirty="0">
              <a:latin typeface="Times New Roman"/>
            </a:endParaRPr>
          </a:p>
          <a:p>
            <a:pPr algn="r">
              <a:lnSpc>
                <a:spcPct val="100000"/>
              </a:lnSpc>
            </a:pPr>
            <a:endParaRPr lang="en-GB" sz="1200" b="0" strike="noStrike" spc="-1" dirty="0">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34902</TotalTime>
  <Words>1034</Words>
  <Application>Microsoft Office PowerPoint</Application>
  <PresentationFormat>On-screen Show (4:3)</PresentationFormat>
  <Paragraphs>149</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    Acknowledgement</vt:lpstr>
      <vt:lpstr>PowerPoint Presentation</vt:lpstr>
      <vt:lpstr>Problem Statement: </vt:lpstr>
      <vt:lpstr>Objectives: </vt:lpstr>
      <vt:lpstr>Literature Review </vt:lpstr>
      <vt:lpstr>Technology Stack: </vt:lpstr>
      <vt:lpstr>Core Features</vt:lpstr>
      <vt:lpstr>Flow Chart</vt:lpstr>
      <vt:lpstr>Challenges &amp; Solutions: </vt:lpstr>
      <vt:lpstr>Limitations: </vt:lpstr>
      <vt:lpstr>Future Scope: </vt:lpstr>
      <vt:lpstr>Conclusion: </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Shivanshu garg</cp:lastModifiedBy>
  <cp:revision>2303</cp:revision>
  <dcterms:created xsi:type="dcterms:W3CDTF">2010-04-09T07:36:15Z</dcterms:created>
  <dcterms:modified xsi:type="dcterms:W3CDTF">2026-05-15T08:32:30Z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